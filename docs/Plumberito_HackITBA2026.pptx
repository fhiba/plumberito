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B13"/>
          </a:solidFill>
          <a:ln w="381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>
                <a:solidFill>
                  <a:srgbClr val="FFF8EF"/>
                </a:solidFill>
                <a:latin typeface="Arial Black"/>
              </a:rPr>
              <a:t>PLUMBERITO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566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CBBAA"/>
                </a:solidFill>
                <a:latin typeface="Courier New"/>
              </a:rPr>
              <a:t>Ship. Deploy. Monitor. Fix — con un solo prompt.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8EF"/>
                </a:solidFill>
                <a:latin typeface="Courier New"/>
              </a:rPr>
              <a:t>HackITBA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EF"/>
          </a:solidFill>
          <a:ln w="381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C0000"/>
                </a:solidFill>
                <a:latin typeface="Courier New"/>
              </a:rPr>
              <a:t>01 / PROBLEMÁTICA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E1B13"/>
                </a:solidFill>
                <a:latin typeface="Arial Black"/>
              </a:rPr>
              <a:t>Demasiadas herramientas.
Cero cohesión.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286000"/>
            <a:ext cx="5486400" cy="1645920"/>
          </a:xfrm>
          <a:prstGeom prst="rect">
            <a:avLst/>
          </a:prstGeom>
          <a:solidFill>
            <a:srgbClr val="FFFFFF"/>
          </a:solidFill>
          <a:ln w="31750">
            <a:solidFill>
              <a:srgbClr val="1E1B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3774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C0000"/>
                </a:solidFill>
                <a:latin typeface="Arial"/>
              </a:rPr>
              <a:t>🔧  5+ servicios separados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78892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1B13"/>
                </a:solidFill>
                <a:latin typeface="Courier New"/>
              </a:rPr>
              <a:t>GitHub, Vercel, AWS, Sentry, Railway... cada uno con su curva de aprendizaje.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4206240"/>
            <a:ext cx="5486400" cy="1645920"/>
          </a:xfrm>
          <a:prstGeom prst="rect">
            <a:avLst/>
          </a:prstGeom>
          <a:solidFill>
            <a:srgbClr val="FFFFFF"/>
          </a:solidFill>
          <a:ln w="31750">
            <a:solidFill>
              <a:srgbClr val="1E1B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2976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C0000"/>
                </a:solidFill>
                <a:latin typeface="Arial"/>
              </a:rPr>
              <a:t>⏱  Setup que tarda horas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70916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1B13"/>
                </a:solidFill>
                <a:latin typeface="Courier New"/>
              </a:rPr>
              <a:t>Configurar CI/CD, IAM, DNS y entornos consume más tiempo que escribir código.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286000"/>
            <a:ext cx="5486400" cy="1645920"/>
          </a:xfrm>
          <a:prstGeom prst="rect">
            <a:avLst/>
          </a:prstGeom>
          <a:solidFill>
            <a:srgbClr val="FFFFFF"/>
          </a:solidFill>
          <a:ln w="31750">
            <a:solidFill>
              <a:srgbClr val="1E1B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3774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C0000"/>
                </a:solidFill>
                <a:latin typeface="Arial"/>
              </a:rPr>
              <a:t>💸  Costos opacos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78892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1B13"/>
                </a:solidFill>
                <a:latin typeface="Courier New"/>
              </a:rPr>
              <a:t>Cada plataforma cobra por separado. El total explota sin que lo notes.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4206240"/>
            <a:ext cx="5486400" cy="1645920"/>
          </a:xfrm>
          <a:prstGeom prst="rect">
            <a:avLst/>
          </a:prstGeom>
          <a:solidFill>
            <a:srgbClr val="FFFFFF"/>
          </a:solidFill>
          <a:ln w="31750">
            <a:solidFill>
              <a:srgbClr val="1E1B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42976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C0000"/>
                </a:solidFill>
                <a:latin typeface="Arial"/>
              </a:rPr>
              <a:t>🚨  Incidents sin contexto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70916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1B13"/>
                </a:solidFill>
                <a:latin typeface="Courier New"/>
              </a:rPr>
              <a:t>Un error en prod requiere abrir 4 tabs para entender qué pasó.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B13"/>
          </a:solidFill>
          <a:ln w="381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CBBAA"/>
                </a:solidFill>
                <a:latin typeface="Courier New"/>
              </a:rPr>
              <a:t>02 / SOLUCIÓN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8EF"/>
                </a:solidFill>
                <a:latin typeface="Arial Black"/>
              </a:rPr>
              <a:t>Un solo lugar.
Un solo prompt.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468880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BBAA"/>
                </a:solidFill>
                <a:latin typeface="Courier New"/>
              </a:rPr>
              <a:t>Plumberito es un agente de IA que toma tu idea y, desde una sola interfaz,
genera el código, crea el repo, provisiona la infraestructura, deployea la app
y monitorea errores — respondiendo con un PR automático si algo falla en prod.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4663440"/>
            <a:ext cx="2103120" cy="1463040"/>
          </a:xfrm>
          <a:prstGeom prst="rect">
            <a:avLst/>
          </a:prstGeom>
          <a:solidFill>
            <a:srgbClr val="1E1B13"/>
          </a:solidFill>
          <a:ln w="25400">
            <a:solidFill>
              <a:srgbClr val="FF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4754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CBBAA"/>
                </a:solidFill>
                <a:latin typeface="Courier New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1206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8EF"/>
                </a:solidFill>
                <a:latin typeface="Arial Black"/>
              </a:rPr>
              <a:t>DESCRIBE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51663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C0000"/>
                </a:solidFill>
                <a:latin typeface="Arial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70048" y="4663440"/>
            <a:ext cx="2103120" cy="1463040"/>
          </a:xfrm>
          <a:prstGeom prst="rect">
            <a:avLst/>
          </a:prstGeom>
          <a:solidFill>
            <a:srgbClr val="1E1B13"/>
          </a:solidFill>
          <a:ln w="25400">
            <a:solidFill>
              <a:srgbClr val="FF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79776" y="4754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CBBAA"/>
                </a:solidFill>
                <a:latin typeface="Courier New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79776" y="51206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8EF"/>
                </a:solidFill>
                <a:latin typeface="Arial Black"/>
              </a:rPr>
              <a:t>GENERATE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51663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C0000"/>
                </a:solidFill>
                <a:latin typeface="Arial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74336" y="4663440"/>
            <a:ext cx="2103120" cy="1463040"/>
          </a:xfrm>
          <a:prstGeom prst="rect">
            <a:avLst/>
          </a:prstGeom>
          <a:solidFill>
            <a:srgbClr val="1E1B13"/>
          </a:solidFill>
          <a:ln w="25400">
            <a:solidFill>
              <a:srgbClr val="FF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84064" y="4754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CBBAA"/>
                </a:solidFill>
                <a:latin typeface="Courier New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4064" y="51206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8EF"/>
                </a:solidFill>
                <a:latin typeface="Arial Black"/>
              </a:rPr>
              <a:t>DEPLOY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31736" y="51663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C0000"/>
                </a:solidFill>
                <a:latin typeface="Arial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78624" y="4663440"/>
            <a:ext cx="2103120" cy="1463040"/>
          </a:xfrm>
          <a:prstGeom prst="rect">
            <a:avLst/>
          </a:prstGeom>
          <a:solidFill>
            <a:srgbClr val="1E1B13"/>
          </a:solidFill>
          <a:ln w="25400">
            <a:solidFill>
              <a:srgbClr val="FF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88352" y="4754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CBBAA"/>
                </a:solidFill>
                <a:latin typeface="Courier New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88352" y="51206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8EF"/>
                </a:solidFill>
                <a:latin typeface="Arial Black"/>
              </a:rPr>
              <a:t>MONITOR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36024" y="51663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C0000"/>
                </a:solidFill>
                <a:latin typeface="Arial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82912" y="4663440"/>
            <a:ext cx="2103120" cy="1463040"/>
          </a:xfrm>
          <a:prstGeom prst="rect">
            <a:avLst/>
          </a:prstGeom>
          <a:solidFill>
            <a:srgbClr val="CC0000"/>
          </a:solidFill>
          <a:ln w="25400">
            <a:solidFill>
              <a:srgbClr val="FF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0" y="4754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CBBAA"/>
                </a:solidFill>
                <a:latin typeface="Courier New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51206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8EF"/>
                </a:solidFill>
                <a:latin typeface="Arial Black"/>
              </a:rPr>
              <a:t>FIX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EF"/>
          </a:solidFill>
          <a:ln w="381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C0000"/>
                </a:solidFill>
                <a:latin typeface="Courier New"/>
              </a:rPr>
              <a:t>03 / INCIDENT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E1B13"/>
                </a:solidFill>
                <a:latin typeface="Arial Black"/>
              </a:rPr>
              <a:t>De Sentry al fix,
en segundos.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377440"/>
            <a:ext cx="548640" cy="6858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468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8EF"/>
                </a:solidFill>
                <a:latin typeface="Arial Black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77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000"/>
                </a:solidFill>
                <a:latin typeface="Arial"/>
              </a:rPr>
              <a:t>🔴  Error en prod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72491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1B13"/>
                </a:solidFill>
                <a:latin typeface="Courier New"/>
              </a:rPr>
              <a:t>Sentry detecta la excepción y notifica a Plumberito.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383280"/>
            <a:ext cx="548640" cy="6858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347472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8EF"/>
                </a:solidFill>
                <a:latin typeface="Arial Black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383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000"/>
                </a:solidFill>
                <a:latin typeface="Arial"/>
              </a:rPr>
              <a:t>🧠  Análisis con 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73075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1B13"/>
                </a:solidFill>
                <a:latin typeface="Courier New"/>
              </a:rPr>
              <a:t>El agente lee el stack trace, localiza el root cause en el repo.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389120"/>
            <a:ext cx="548640" cy="6858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448056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8EF"/>
                </a:solidFill>
                <a:latin typeface="Arial Black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000"/>
                </a:solidFill>
                <a:latin typeface="Arial"/>
              </a:rPr>
              <a:t>🔧  Patch automático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7365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1B13"/>
                </a:solidFill>
                <a:latin typeface="Courier New"/>
              </a:rPr>
              <a:t>Genera un fix, lo commitea en una rama nueva.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394960"/>
            <a:ext cx="548640" cy="6858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548640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8EF"/>
                </a:solidFill>
                <a:latin typeface="Arial Black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394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000"/>
                </a:solidFill>
                <a:latin typeface="Arial"/>
              </a:rPr>
              <a:t>📬  PR a tu repo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74243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1B13"/>
                </a:solidFill>
                <a:latin typeface="Courier New"/>
              </a:rPr>
              <a:t>Abre el Pull Request con la explicación del bug y el parche listo para review.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5120" y="2194560"/>
            <a:ext cx="5120640" cy="4206240"/>
          </a:xfrm>
          <a:prstGeom prst="rect">
            <a:avLst/>
          </a:prstGeom>
          <a:solidFill>
            <a:srgbClr val="1E1B13"/>
          </a:solidFill>
          <a:ln w="254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23774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A5230"/>
                </a:solidFill>
                <a:latin typeface="Courier New"/>
              </a:rPr>
              <a:t># resultado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83464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8EF"/>
                </a:solidFill>
                <a:latin typeface="Courier New"/>
              </a:rPr>
              <a:t>PR #42 — auto-fix: null ref
en UserService.getProfile()
- return user.profile
+ return user?.profile ?? {}
✓ Tests pasando
✓ Sin breaking changes
→ Listo para merge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EF"/>
          </a:solidFill>
          <a:ln w="381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C0000"/>
                </a:solidFill>
                <a:latin typeface="Courier New"/>
              </a:rPr>
              <a:t>04 / MERCADO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1E1B13"/>
                </a:solidFill>
                <a:latin typeface="Arial Black"/>
              </a:rPr>
              <a:t>El mercado es enorme
y está fragmentado.</a:t>
            </a:r>
          </a:p>
        </p:txBody>
      </p:sp>
      <p:sp>
        <p:nvSpPr>
          <p:cNvPr id="6" name="Oval 5"/>
          <p:cNvSpPr/>
          <p:nvPr/>
        </p:nvSpPr>
        <p:spPr>
          <a:xfrm>
            <a:off x="1188720" y="1463040"/>
            <a:ext cx="5303520" cy="5303520"/>
          </a:xfrm>
          <a:prstGeom prst="ellipse">
            <a:avLst/>
          </a:prstGeom>
          <a:solidFill>
            <a:srgbClr val="F0E8DF"/>
          </a:solidFill>
          <a:ln w="31750">
            <a:solidFill>
              <a:srgbClr val="1E1B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920240" y="2194560"/>
            <a:ext cx="3840480" cy="3840480"/>
          </a:xfrm>
          <a:prstGeom prst="ellipse">
            <a:avLst/>
          </a:prstGeom>
          <a:solidFill>
            <a:srgbClr val="D4BBA0"/>
          </a:solidFill>
          <a:ln w="31750">
            <a:solidFill>
              <a:srgbClr val="1E1B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43200" y="3017520"/>
            <a:ext cx="2194560" cy="2194560"/>
          </a:xfrm>
          <a:prstGeom prst="ellipse">
            <a:avLst/>
          </a:prstGeom>
          <a:solidFill>
            <a:srgbClr val="CC0000"/>
          </a:solidFill>
          <a:ln w="317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370332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8EF"/>
                </a:solidFill>
                <a:latin typeface="Arial Black"/>
              </a:rPr>
              <a:t>SOM
$320M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331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E1B13"/>
                </a:solidFill>
                <a:latin typeface="Arial Black"/>
              </a:rPr>
              <a:t>SAM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6002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E1B13"/>
                </a:solidFill>
                <a:latin typeface="Arial Black"/>
              </a:rPr>
              <a:t>TAM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1645920"/>
            <a:ext cx="448056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1B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2360" y="173736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000"/>
                </a:solidFill>
                <a:latin typeface="Arial Black"/>
              </a:rPr>
              <a:t>TAM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16916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E1B13"/>
                </a:solidFill>
                <a:latin typeface="Arial Black"/>
              </a:rPr>
              <a:t>$28B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228600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1B13"/>
                </a:solidFill>
                <a:latin typeface="Courier New"/>
              </a:rPr>
              <a:t>Mercado global de
herramientas de desarrollo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3200400"/>
            <a:ext cx="448056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1B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329184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000"/>
                </a:solidFill>
                <a:latin typeface="Arial Black"/>
              </a:rPr>
              <a:t>SAM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24612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E1B13"/>
                </a:solidFill>
                <a:latin typeface="Arial Black"/>
              </a:rPr>
              <a:t>$4.5B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384048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1B13"/>
                </a:solidFill>
                <a:latin typeface="Courier New"/>
              </a:rPr>
              <a:t>DevOps tooling para
startups y equipos chicos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4754880"/>
            <a:ext cx="448056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1B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2360" y="484632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000"/>
                </a:solidFill>
                <a:latin typeface="Arial Black"/>
              </a:rPr>
              <a:t>SOM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80060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E1B13"/>
                </a:solidFill>
                <a:latin typeface="Arial Black"/>
              </a:rPr>
              <a:t>$320M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539496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1B13"/>
                </a:solidFill>
                <a:latin typeface="Courier New"/>
              </a:rPr>
              <a:t>Indie devs + freelancers
Latam &amp; global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B13"/>
          </a:solidFill>
          <a:ln w="381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CBBAA"/>
                </a:solidFill>
                <a:latin typeface="Courier New"/>
              </a:rPr>
              <a:t>05 / MODELO DE NEGOCIO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8EF"/>
                </a:solidFill>
                <a:latin typeface="Arial Black"/>
              </a:rPr>
              <a:t>Freemium → Pro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920240"/>
            <a:ext cx="3657600" cy="4480560"/>
          </a:xfrm>
          <a:prstGeom prst="rect">
            <a:avLst/>
          </a:prstGeom>
          <a:solidFill>
            <a:srgbClr val="2A251C"/>
          </a:solidFill>
          <a:ln w="38100">
            <a:solidFill>
              <a:srgbClr val="CC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031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8EF"/>
                </a:solidFill>
                <a:latin typeface="Arial Black"/>
              </a:rPr>
              <a:t>FREE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9748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CCBBAA"/>
                </a:solidFill>
                <a:latin typeface="Arial Black"/>
              </a:rPr>
              <a:t>$0 / 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4747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8EF"/>
                </a:solidFill>
                <a:latin typeface="Courier New"/>
              </a:rPr>
              <a:t>→  3 deployments / 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133088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8EF"/>
                </a:solidFill>
                <a:latin typeface="Courier New"/>
              </a:rPr>
              <a:t>→  Infraestructura básica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791456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8EF"/>
                </a:solidFill>
                <a:latin typeface="Courier New"/>
              </a:rPr>
              <a:t>→  Monitoreo limitado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449824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8EF"/>
                </a:solidFill>
                <a:latin typeface="Courier New"/>
              </a:rPr>
              <a:t>→  Repositorio público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5967" y="1920240"/>
            <a:ext cx="3657600" cy="4480560"/>
          </a:xfrm>
          <a:prstGeom prst="rect">
            <a:avLst/>
          </a:prstGeom>
          <a:solidFill>
            <a:srgbClr val="CC0000"/>
          </a:solidFill>
          <a:ln w="381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7" y="21031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8EF"/>
                </a:solidFill>
                <a:latin typeface="Arial Black"/>
              </a:rPr>
              <a:t>PRO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7" y="269748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8EF"/>
                </a:solidFill>
                <a:latin typeface="Arial Black"/>
              </a:rPr>
              <a:t>$29 / 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7" y="34747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8EF"/>
                </a:solidFill>
                <a:latin typeface="Courier New"/>
              </a:rPr>
              <a:t>→  Deployments ilimitados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7" y="4133088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8EF"/>
                </a:solidFill>
                <a:latin typeface="Courier New"/>
              </a:rPr>
              <a:t>→  Incident management + PR auto-fix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7" y="4791456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8EF"/>
                </a:solidFill>
                <a:latin typeface="Courier New"/>
              </a:rPr>
              <a:t>→  Monitoreo 24/7 con Sentry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847" y="5449824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8EF"/>
                </a:solidFill>
                <a:latin typeface="Courier New"/>
              </a:rPr>
              <a:t>→  Repos privados + team collab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0454" y="1920240"/>
            <a:ext cx="3657600" cy="4480560"/>
          </a:xfrm>
          <a:prstGeom prst="rect">
            <a:avLst/>
          </a:prstGeom>
          <a:solidFill>
            <a:srgbClr val="2A251C"/>
          </a:solidFill>
          <a:ln w="38100">
            <a:solidFill>
              <a:srgbClr val="7A5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03334" y="21031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8EF"/>
                </a:solidFill>
                <a:latin typeface="Arial Black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03334" y="269748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CCBBAA"/>
                </a:solidFill>
                <a:latin typeface="Arial Black"/>
              </a:rPr>
              <a:t>$99 / mes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03334" y="34747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8EF"/>
                </a:solidFill>
                <a:latin typeface="Courier New"/>
              </a:rPr>
              <a:t>→  Todo lo de Pro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03334" y="4133088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8EF"/>
                </a:solidFill>
                <a:latin typeface="Courier New"/>
              </a:rPr>
              <a:t>→  Hasta 10 usuarios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3334" y="4791456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8EF"/>
                </a:solidFill>
                <a:latin typeface="Courier New"/>
              </a:rPr>
              <a:t>→  SLA de respuesta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03334" y="5449824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8EF"/>
                </a:solidFill>
                <a:latin typeface="Courier New"/>
              </a:rPr>
              <a:t>→  Dashboard de costos unificado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B13"/>
          </a:solidFill>
          <a:ln w="381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0" b="1">
                <a:solidFill>
                  <a:srgbClr val="FFF8EF"/>
                </a:solidFill>
                <a:latin typeface="Arial Black"/>
              </a:rPr>
              <a:t>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CBBAA"/>
                </a:solidFill>
                <a:latin typeface="Courier New"/>
              </a:rPr>
              <a:t>A continuación — demo en vivo del producto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C0000"/>
                </a:solidFill>
                <a:latin typeface="Courier New"/>
              </a:rPr>
              <a:t>PLUMBERITO  ·  HackITBA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